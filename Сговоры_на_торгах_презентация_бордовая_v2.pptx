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7" r:id="rId34"/>
    <p:sldId id="278" r:id="rId35"/>
    <p:sldId id="279" r:id="rId36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embeddedFontLst>
    <p:embeddedFont>
      <p:font typeface="Oswald" pitchFamily="2" charset="0"/>
      <p:regular r:id="rId24"/>
      <p:bold r:id="rId25"/>
    </p:embeddedFont>
    <p:embeddedFont>
      <p:font typeface="Raleway" pitchFamily="2" charset="0"/>
      <p:regular r:id="rId26"/>
      <p:bold r:id="rId27"/>
      <p:italic r:id="rId28"/>
      <p:boldItalic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notesMaster" Target="notesMasters/notesMaster1.xml"/><Relationship Id="rId24" Type="http://schemas.openxmlformats.org/officeDocument/2006/relationships/font" Target="fonts/font1.fntdata"/><Relationship Id="rId25" Type="http://schemas.openxmlformats.org/officeDocument/2006/relationships/font" Target="fonts/font2.fntdata"/><Relationship Id="rId26" Type="http://schemas.openxmlformats.org/officeDocument/2006/relationships/font" Target="fonts/font3.fntdata"/><Relationship Id="rId27" Type="http://schemas.openxmlformats.org/officeDocument/2006/relationships/font" Target="fonts/font4.fntdata"/><Relationship Id="rId28" Type="http://schemas.openxmlformats.org/officeDocument/2006/relationships/font" Target="fonts/font5.fntdata"/><Relationship Id="rId29" Type="http://schemas.openxmlformats.org/officeDocument/2006/relationships/font" Target="fonts/font6.fntdata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сговора</c:v>
                </c:pt>
              </c:strCache>
            </c:strRef>
          </c:tx>
          <c:spPr>
            <a:solidFill>
              <a:srgbClr val="8C1D2F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61616"/>
                    </a:solidFill>
                    <a:latin typeface="Raleway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
(меньшие)</c:v>
                </c:pt>
                <c:pt idx="1">
                  <c:v>Q2</c:v>
                </c:pt>
                <c:pt idx="2">
                  <c:v>Q3</c:v>
                </c:pt>
                <c:pt idx="3">
                  <c:v>Q4
(крупные)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4.9000000000000004</c:v>
                </c:pt>
                <c:pt idx="1">
                  <c:v>5.8</c:v>
                </c:pt>
                <c:pt idx="2">
                  <c:v>10.6</c:v>
                </c:pt>
                <c:pt idx="3">
                  <c:v>10.5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8C-264D-B620-509BD3091F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C7C7C"/>
                </a:solidFill>
                <a:latin typeface="Raleway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сговора</c:v>
                </c:pt>
              </c:strCache>
            </c:strRef>
          </c:tx>
          <c:spPr>
            <a:solidFill>
              <a:srgbClr val="8C1D2F"/>
            </a:solidFill>
          </c:spPr>
          <c:cat>
            <c:strRef>
              <c:f>Sheet1!$A$2:$A$5</c:f>
              <c:strCache>
                <c:ptCount val="4"/>
                <c:pt idx="0">
                  <c:v>Q1
(мелкие)</c:v>
                </c:pt>
                <c:pt idx="1">
                  <c:v>Q2</c:v>
                </c:pt>
                <c:pt idx="2">
                  <c:v>Q3</c:v>
                </c:pt>
                <c:pt idx="3">
                  <c:v>Q4
(крупные)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4.9</c:v>
                </c:pt>
                <c:pt idx="1">
                  <c:v>5.8</c:v>
                </c:pt>
                <c:pt idx="2">
                  <c:v>10.6</c:v>
                </c:pt>
                <c:pt idx="3">
                  <c:v>10.5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50" b="1">
                  <a:solidFill>
                    <a:srgbClr val="161616"/>
                  </a:solidFill>
                  <a:latin typeface="Ralew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FCFCF"/>
            </a:solidFill>
          </a:ln>
        </c:spPr>
        <c:txPr>
          <a:bodyPr/>
          <a:lstStyle/>
          <a:p>
            <a:pPr>
              <a:defRPr sz="1100">
                <a:latin typeface="Raleway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Ralew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сговора</c:v>
                </c:pt>
              </c:strCache>
            </c:strRef>
          </c:tx>
          <c:spPr>
            <a:solidFill>
              <a:srgbClr val="8C1D2F"/>
            </a:solidFill>
          </c:spPr>
          <c:cat>
            <c:strRef>
              <c:f>Sheet1!$A$2:$A$12</c:f>
              <c:strCach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11.5</c:v>
                </c:pt>
                <c:pt idx="1">
                  <c:v>8.2</c:v>
                </c:pt>
                <c:pt idx="2">
                  <c:v>5.6</c:v>
                </c:pt>
                <c:pt idx="3">
                  <c:v>7.9</c:v>
                </c:pt>
                <c:pt idx="4">
                  <c:v>7.3</c:v>
                </c:pt>
                <c:pt idx="5">
                  <c:v>5.9</c:v>
                </c:pt>
                <c:pt idx="6">
                  <c:v>4.0</c:v>
                </c:pt>
                <c:pt idx="7">
                  <c:v>10.2</c:v>
                </c:pt>
                <c:pt idx="8">
                  <c:v>13.2</c:v>
                </c:pt>
                <c:pt idx="9">
                  <c:v>15.1</c:v>
                </c:pt>
                <c:pt idx="10">
                  <c:v>2.8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FCFCF"/>
            </a:solidFill>
          </a:ln>
        </c:spPr>
        <c:txPr>
          <a:bodyPr/>
          <a:lstStyle/>
          <a:p>
            <a:pPr>
              <a:defRPr sz="900">
                <a:latin typeface="Raleway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Ralew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5850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НАУЧНО-ИССЛЕДОВАТЕЛЬСКИЙ СЕМИНАР · КУРСОВАЯ РАБОТА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619695" y="5029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НИУ ВШЭ · САНКТ-ПЕТЕРБУРГ · 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0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ПРИМЕНЯЕМ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1792" y="2240280"/>
            <a:ext cx="11521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CONFIDENT LEARNING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621792" y="3310128"/>
            <a:ext cx="11521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6161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ДЛЯ ВЫЯВЛЕНИЯ СГОВОРОВ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21792" y="4261104"/>
            <a:ext cx="11521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6161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НА ТОРГАХ В ГОСЗАКУПКАХ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82296" cy="868680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557784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Валевач Матвей Витальевич   ·   Костюченко Ирина Кирилловна</a:t>
            </a:r>
            <a:endParaRPr lang="en-US" sz="13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Международная программа по бизнесу и экономике, группа 2306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Науч. рук.: доц. Кракович В.В.   ·   Консультант: Ефимов К.Д.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НАВИГАЦИЯ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619695" y="3840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НИУ ВШЭ · СПб · 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Confident learning · выявление сговоров на торгах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911535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0" b="1" dirty="0">
                <a:solidFill>
                  <a:srgbClr val="EAD0D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ПЛАН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640080" y="960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СОДЕРЖАНИЕ ДОКЛАДА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41732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269480" y="141732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Мотивация</a:t>
            </a:r>
            <a:endParaRPr lang="en-US" sz="1550" dirty="0"/>
          </a:p>
          <a:p>
            <a:pPr marL="0" indent="0">
              <a:buNone/>
            </a:pPr>
            <a:r>
              <a:rPr lang="en-US" sz="110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рынок закупок, проблема данных, вопрос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00800" y="2203704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269480" y="220370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Обзор литературы</a:t>
            </a:r>
            <a:endParaRPr lang="en-US" sz="1550" dirty="0"/>
          </a:p>
          <a:p>
            <a:pPr marL="0" indent="0">
              <a:buNone/>
            </a:pPr>
            <a:r>
              <a:rPr lang="en-US" sz="110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четыре опоры исследования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00800" y="299008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69480" y="299008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Гипотезы</a:t>
            </a:r>
            <a:endParaRPr lang="en-US" sz="1550" dirty="0"/>
          </a:p>
          <a:p>
            <a:pPr marL="0" indent="0">
              <a:buNone/>
            </a:pPr>
            <a:r>
              <a:rPr lang="en-US" sz="110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три проверяемых утверждения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400800" y="377647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269480" y="377647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Методы и данные</a:t>
            </a:r>
            <a:endParaRPr lang="en-US" sz="1550" dirty="0"/>
          </a:p>
          <a:p>
            <a:pPr marL="0" indent="0">
              <a:buNone/>
            </a:pPr>
            <a:r>
              <a:rPr lang="en-US" sz="110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источники, признаки, схема проверки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00800" y="456285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269480" y="456285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Результаты</a:t>
            </a:r>
            <a:endParaRPr lang="en-US" sz="1550" dirty="0"/>
          </a:p>
          <a:p>
            <a:pPr marL="0" indent="0">
              <a:buNone/>
            </a:pPr>
            <a:r>
              <a:rPr lang="en-US" sz="110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разведка, модели, эффект CL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00800" y="53492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06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269480" y="53492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Обсуждение и заключение</a:t>
            </a:r>
            <a:endParaRPr lang="en-US" sz="1550" dirty="0"/>
          </a:p>
          <a:p>
            <a:pPr marL="0" indent="0">
              <a:buNone/>
            </a:pPr>
            <a:r>
              <a:rPr lang="en-US" sz="110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границы, итоги, применение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400800" y="1371600"/>
            <a:ext cx="0" cy="4718304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МОТИВАЦИЯ · 01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619695" y="3840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НИУ ВШЭ · СПб · 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Confident learning · выявление сговоров на торгах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911535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161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Зачем это нужно: рынок закупок и сговор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4297680" cy="4297680"/>
          </a:xfrm>
          <a:prstGeom prst="roundRect">
            <a:avLst>
              <a:gd name="adj" fmla="val 1702"/>
            </a:avLst>
          </a:prstGeom>
          <a:solidFill>
            <a:srgbClr val="8C1D2F"/>
          </a:solidFill>
          <a:ln w="12700">
            <a:solidFill>
              <a:srgbClr val="8C1D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4884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Десятки</a:t>
            </a:r>
            <a:endParaRPr lang="en-US" sz="44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триллионов ₽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005840" y="3657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E3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проходят через систему госзакупок каждый год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5262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Даже малая доля испорченных контрактов — огромные потери бюджета.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349240" y="1837944"/>
            <a:ext cx="64008" cy="713232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12" name="Text 10"/>
          <p:cNvSpPr/>
          <p:nvPr/>
        </p:nvSpPr>
        <p:spPr>
          <a:xfrm>
            <a:off x="5596128" y="17830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Два закона. </a:t>
            </a:r>
            <a:r>
              <a:rPr lang="en-US" sz="130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44-ФЗ регулирует обычные государственные и муниципальные закупки, 223-ФЗ покрывает закупки госкорпораций и компаний с госучастием.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49240" y="2916936"/>
            <a:ext cx="64008" cy="713232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14" name="Text 12"/>
          <p:cNvSpPr/>
          <p:nvPr/>
        </p:nvSpPr>
        <p:spPr>
          <a:xfrm>
            <a:off x="5596128" y="2862072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Сговор на торгах. </a:t>
            </a:r>
            <a:r>
              <a:rPr lang="en-US" sz="130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Два или более участника договариваются о ценах, по очереди выигрывают лоты или не пускают на рынок чужих.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49240" y="3995928"/>
            <a:ext cx="64008" cy="713232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16" name="Text 14"/>
          <p:cNvSpPr/>
          <p:nvPr/>
        </p:nvSpPr>
        <p:spPr>
          <a:xfrm>
            <a:off x="5596128" y="3941064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Эффект всегда один. </a:t>
            </a:r>
            <a:r>
              <a:rPr lang="en-US" sz="130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Аукцион перестаёт работать, цены завышаются, качество падает.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49240" y="5074920"/>
            <a:ext cx="64008" cy="713232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18" name="Text 16"/>
          <p:cNvSpPr/>
          <p:nvPr/>
        </p:nvSpPr>
        <p:spPr>
          <a:xfrm>
            <a:off x="5596128" y="5020056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Запрет. </a:t>
            </a:r>
            <a:r>
              <a:rPr lang="en-US" sz="130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Право относит сговор к самым серьёзным нарушениям — статья 11 закона 135-ФЗ.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МОТИВАЦИЯ · 01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619695" y="3840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НИУ ВШЭ · СПб · 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Confident learning · выявление сговоров на торгах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911535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161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Проблема данных и исследовательский вопрос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64008" cy="749808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1737360"/>
            <a:ext cx="5989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Масштаб. </a:t>
            </a:r>
            <a:r>
              <a:rPr lang="en-US" sz="135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Антимонопольная служба открывает дела, но ежедневно публикуются сотни тысяч лотов — вручную проверить можно лишь малую часть.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64008" cy="749808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2788920"/>
            <a:ext cx="5989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ML подходит идеально. </a:t>
            </a:r>
            <a:r>
              <a:rPr lang="en-US" sz="135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Модель не заменяет инспектора, а ранжирует контракты по подозрительности и подсказывает, куда смотреть в первую очередь.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886200"/>
            <a:ext cx="64008" cy="749808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" y="3840480"/>
            <a:ext cx="5989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Фундаментальная сложность. </a:t>
            </a:r>
            <a:r>
              <a:rPr lang="en-US" sz="135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Модель учится только на пойманных картелях. Все непойманные лежат в данных с меткой «сговора нет».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937760"/>
            <a:ext cx="64008" cy="749808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" y="4892040"/>
            <a:ext cx="5989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Смещение в одну сторону. </a:t>
            </a:r>
            <a:r>
              <a:rPr lang="en-US" sz="135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Ошибки в метках систематичны, и обычный классификатор наследует слепые зоны регулятора.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086600" y="1737360"/>
            <a:ext cx="4462272" cy="4206240"/>
          </a:xfrm>
          <a:prstGeom prst="roundRect">
            <a:avLst>
              <a:gd name="adj" fmla="val 1739"/>
            </a:avLst>
          </a:prstGeom>
          <a:solidFill>
            <a:srgbClr val="F6E8EB"/>
          </a:solidFill>
          <a:ln w="12700">
            <a:solidFill>
              <a:srgbClr val="EAD0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86600" y="1737360"/>
            <a:ext cx="91440" cy="4206240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0" y="2057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ИССЛЕДОВАТЕЛЬСКИЙ ВОПРОС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06640" y="2606040"/>
            <a:ext cx="3886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Насколько confident learning улучшает выявление сговора, когда исторические метки зашумлены — и какая из четырёх стратегий коррекции работает лучше всего?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ОБЗОР ЛИТЕРАТУРЫ · 02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619695" y="3840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НИУ ВШЭ · СПб · 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Confident learning · выявление сговоров на торгах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911535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161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Что говорит литература: четыре опоры работы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272888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89280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1783080" y="1929384"/>
            <a:ext cx="390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Юридические и теоретические основы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83080" y="2587752"/>
            <a:ext cx="390128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Сговор запрещён сам по себе (ст. 11 закона 135-ФЗ). Повторяющиеся аукционы создают условия для устойчивых картелей (Ishii, 2008); отличает сговор от молчаливой координации именно коммуникация (Andres et al., 2023).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78728" y="1691640"/>
            <a:ext cx="5272888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4760" y="189280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7421728" y="1929384"/>
            <a:ext cx="390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От скрининга к машинному обучению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21728" y="2587752"/>
            <a:ext cx="390128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Классические тесты по распределению ставок (Porter, Zona, 1993) просты, но линейны. Современные модели ловят нелинейные взаимодействия и дают заметно точнее выявление (Huber, Imhof, 2019).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069080"/>
            <a:ext cx="5272888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6112" y="42702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1783080" y="4306824"/>
            <a:ext cx="390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Зашумлённые метки и confident learning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83080" y="4965192"/>
            <a:ext cx="390128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Подход Northcutt et al. (2021) сравнивает уверенные предсказания с метками и помечает вероятные ошибки. На российских данных идею применяли Goryunova et al. (2021) — но лишь одну стратегию.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78728" y="4069080"/>
            <a:ext cx="5272888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4760" y="42702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7421728" y="4306824"/>
            <a:ext cx="390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Выбор базовой модели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21728" y="4965192"/>
            <a:ext cx="390128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CatBoost хорошо работает с категориальными признаками высокой мощности, нативно обрабатывает пропуски и устойчив на малых выборках (Prokhorenkova et al., 2018) — это прямо отвечает нашим данным.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ГИПОТЕЗЫ · 03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619695" y="3840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НИУ ВШЭ · СПб · 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Confident learning · выявление сговоров на торгах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911535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161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Три гипотезы, которые мы проверяем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371600" cy="1371600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H1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2011680" y="1783080"/>
            <a:ext cx="9539935" cy="1371600"/>
          </a:xfrm>
          <a:prstGeom prst="roundRect">
            <a:avLst/>
          </a:prstGeom>
          <a:solidFill>
            <a:srgbClr val="F6E8EB"/>
          </a:solidFill>
          <a:ln w="12700">
            <a:solidFill>
              <a:srgbClr val="EAD0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783080"/>
            <a:ext cx="8762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Confident learning в каждой из четырёх стратегий улучшает качество модели (PR-AUC) по сравнению с базовой моделью без коррекции.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355848"/>
            <a:ext cx="1371600" cy="1371600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5584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H2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2011680" y="3355848"/>
            <a:ext cx="9539935" cy="1371600"/>
          </a:xfrm>
          <a:prstGeom prst="roundRect">
            <a:avLst/>
          </a:prstGeom>
          <a:solidFill>
            <a:srgbClr val="F6E8EB"/>
          </a:solidFill>
          <a:ln w="12700">
            <a:solidFill>
              <a:srgbClr val="EAD0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3355848"/>
            <a:ext cx="8762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При высокой неопределённости меток удаление подозрительных наблюдений устойчиво: оно не делает предположений о направлении ошибки. Успех переразметки зависит от того, в каком классе сосредоточен шум.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928616"/>
            <a:ext cx="1371600" cy="1371600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928616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H3</a:t>
            </a:r>
            <a:endParaRPr lang="en-US" sz="4000" dirty="0"/>
          </a:p>
        </p:txBody>
      </p:sp>
      <p:sp>
        <p:nvSpPr>
          <p:cNvPr id="17" name="Shape 15"/>
          <p:cNvSpPr/>
          <p:nvPr/>
        </p:nvSpPr>
        <p:spPr>
          <a:xfrm>
            <a:off x="2011680" y="4928616"/>
            <a:ext cx="9539935" cy="1371600"/>
          </a:xfrm>
          <a:prstGeom prst="roundRect">
            <a:avLst/>
          </a:prstGeom>
          <a:solidFill>
            <a:srgbClr val="F6E8EB"/>
          </a:solidFill>
          <a:ln w="12700">
            <a:solidFill>
              <a:srgbClr val="EAD0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4928616"/>
            <a:ext cx="8762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Признаки поведенческой концентрации не уступают, а возможно и превосходят классические ценовые скрининговые признаки по предсказательной силе, взятой поодиночке.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МЕТОДЫ И ДАННЫЕ · 04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619695" y="3840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НИУ ВШЭ · СПб · 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Confident learning · выявление сговоров на торгах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911535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161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Откуда берутся данные и как мы их собирали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454298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32688" y="2029968"/>
            <a:ext cx="603504" cy="603504"/>
          </a:xfrm>
          <a:prstGeom prst="ellipse">
            <a:avLst/>
          </a:prstGeom>
          <a:solidFill>
            <a:srgbClr val="8C1D2F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20299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2761488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База решений ФАС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364992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Полные тексты антимонопольных решений. Отсюда — «золотые метки»: список компаний-нарушителей и реестровые номера сговорных аукционов.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68698" y="1737360"/>
            <a:ext cx="3454298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1306" y="2029968"/>
            <a:ext cx="603504" cy="603504"/>
          </a:xfrm>
          <a:prstGeom prst="ellipse">
            <a:avLst/>
          </a:prstGeom>
          <a:solidFill>
            <a:srgbClr val="8C1D2F"/>
          </a:solidFill>
          <a:ln/>
        </p:spPr>
      </p:sp>
      <p:sp>
        <p:nvSpPr>
          <p:cNvPr id="14" name="Text 12"/>
          <p:cNvSpPr/>
          <p:nvPr/>
        </p:nvSpPr>
        <p:spPr>
          <a:xfrm>
            <a:off x="4661306" y="20299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43018" y="2761488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Извлечение языковой моделью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43018" y="3364992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Решения — неструктурированный текст. Номера закупок и ИНН нарушителей извлекает DeepSeek-V3.1, после чего каждый результат проверяется вручную.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97317" y="1737360"/>
            <a:ext cx="3454298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89925" y="2029968"/>
            <a:ext cx="603504" cy="603504"/>
          </a:xfrm>
          <a:prstGeom prst="ellipse">
            <a:avLst/>
          </a:prstGeom>
          <a:solidFill>
            <a:srgbClr val="8C1D2F"/>
          </a:solidFill>
          <a:ln/>
        </p:spPr>
      </p:sp>
      <p:sp>
        <p:nvSpPr>
          <p:cNvPr id="19" name="Text 17"/>
          <p:cNvSpPr/>
          <p:nvPr/>
        </p:nvSpPr>
        <p:spPr>
          <a:xfrm>
            <a:off x="8389925" y="20299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371637" y="2761488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API Clearspending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71637" y="3364992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 каждому ИНН нарушителя выгружаем все контракты — и сговорные, и обычные, которые образуют сравнительный класс.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709160"/>
            <a:ext cx="10911535" cy="1298448"/>
          </a:xfrm>
          <a:prstGeom prst="roundRect">
            <a:avLst>
              <a:gd name="adj" fmla="val 4225"/>
            </a:avLst>
          </a:prstGeom>
          <a:solidFill>
            <a:srgbClr val="F6E8EB"/>
          </a:solidFill>
          <a:ln w="12700">
            <a:solidFill>
              <a:srgbClr val="EAD0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709160"/>
            <a:ext cx="91440" cy="1298448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24" name="Text 22"/>
          <p:cNvSpPr/>
          <p:nvPr/>
        </p:nvSpPr>
        <p:spPr>
          <a:xfrm>
            <a:off x="1024128" y="4709160"/>
            <a:ext cx="1018001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Свойство дизайна.  </a:t>
            </a:r>
            <a:r>
              <a:rPr lang="en-US" sz="1350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Сравнительный класс — это не случайные контракты рынка, а обычные контракты тех же компаний, которые хотя бы раз попадались на сговоре. Модель учится отличать активный сговор от обычного поведения тех же фирм.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МЕТОДЫ И ДАННЫЕ · 04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619695" y="3840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НИУ ВШЭ · СПб · 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Confident learning · выявление сговоров на торгах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911535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161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Параметры итоговой выборки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522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18 537</a:t>
            </a:r>
            <a:endParaRPr lang="en-US" sz="5000" dirty="0"/>
          </a:p>
        </p:txBody>
      </p:sp>
      <p:sp>
        <p:nvSpPr>
          <p:cNvPr id="8" name="Shape 6"/>
          <p:cNvSpPr/>
          <p:nvPr/>
        </p:nvSpPr>
        <p:spPr>
          <a:xfrm>
            <a:off x="667512" y="2606040"/>
            <a:ext cx="502920" cy="41148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15768"/>
            <a:ext cx="252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контрактов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36544" y="1691640"/>
            <a:ext cx="2522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184</a:t>
            </a:r>
            <a:endParaRPr lang="en-US" sz="5000" dirty="0"/>
          </a:p>
        </p:txBody>
      </p:sp>
      <p:sp>
        <p:nvSpPr>
          <p:cNvPr id="11" name="Shape 9"/>
          <p:cNvSpPr/>
          <p:nvPr/>
        </p:nvSpPr>
        <p:spPr>
          <a:xfrm>
            <a:off x="3463976" y="2606040"/>
            <a:ext cx="502920" cy="41148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2" name="Text 10"/>
          <p:cNvSpPr/>
          <p:nvPr/>
        </p:nvSpPr>
        <p:spPr>
          <a:xfrm>
            <a:off x="3436544" y="2715768"/>
            <a:ext cx="252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поставщика-нарушителя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33008" y="1691640"/>
            <a:ext cx="2522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4 518</a:t>
            </a:r>
            <a:endParaRPr lang="en-US" sz="5000" dirty="0"/>
          </a:p>
        </p:txBody>
      </p:sp>
      <p:sp>
        <p:nvSpPr>
          <p:cNvPr id="14" name="Shape 12"/>
          <p:cNvSpPr/>
          <p:nvPr/>
        </p:nvSpPr>
        <p:spPr>
          <a:xfrm>
            <a:off x="6260440" y="2606040"/>
            <a:ext cx="502920" cy="41148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5" name="Text 13"/>
          <p:cNvSpPr/>
          <p:nvPr/>
        </p:nvSpPr>
        <p:spPr>
          <a:xfrm>
            <a:off x="6233008" y="2715768"/>
            <a:ext cx="252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заказчиков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029471" y="1691640"/>
            <a:ext cx="2522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7,94 %</a:t>
            </a:r>
            <a:endParaRPr lang="en-US" sz="5000" dirty="0"/>
          </a:p>
        </p:txBody>
      </p:sp>
      <p:sp>
        <p:nvSpPr>
          <p:cNvPr id="17" name="Shape 15"/>
          <p:cNvSpPr/>
          <p:nvPr/>
        </p:nvSpPr>
        <p:spPr>
          <a:xfrm>
            <a:off x="9056903" y="2606040"/>
            <a:ext cx="502920" cy="41148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8" name="Text 16"/>
          <p:cNvSpPr/>
          <p:nvPr/>
        </p:nvSpPr>
        <p:spPr>
          <a:xfrm>
            <a:off x="9029471" y="2715768"/>
            <a:ext cx="252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доля со сговором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32461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Период наблюдений: с 2010 по 2025 год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5272888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657600"/>
            <a:ext cx="91440" cy="2240280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22" name="Text 20"/>
          <p:cNvSpPr/>
          <p:nvPr/>
        </p:nvSpPr>
        <p:spPr>
          <a:xfrm>
            <a:off x="1024128" y="3913632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161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Закон 44-ФЗ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24128" y="4498848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91,7 % контрактов (16 989)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24128" y="4864608"/>
            <a:ext cx="463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Подробное раскрытие, есть начальная цена.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4128" y="5449824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Доля сговора — 8,5 %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78728" y="3657600"/>
            <a:ext cx="5272888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78728" y="3657600"/>
            <a:ext cx="91440" cy="2240280"/>
          </a:xfrm>
          <a:prstGeom prst="rect">
            <a:avLst/>
          </a:prstGeom>
          <a:solidFill>
            <a:srgbClr val="7C7C7C"/>
          </a:solidFill>
          <a:ln/>
        </p:spPr>
      </p:sp>
      <p:sp>
        <p:nvSpPr>
          <p:cNvPr id="28" name="Text 26"/>
          <p:cNvSpPr/>
          <p:nvPr/>
        </p:nvSpPr>
        <p:spPr>
          <a:xfrm>
            <a:off x="6662776" y="3913632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161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Закон 223-ФЗ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662776" y="4498848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8,3 % контрактов (1 548)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62776" y="4864608"/>
            <a:ext cx="463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Меньше обязательного раскрытия, начальная цена часто отсутствует.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62776" y="5449824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Доля сговора — 1,2 %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МЕТОДЫ И ДАННЫЕ · 04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619695" y="3840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НИУ ВШЭ · СПб · 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Confident learning · выявление сговоров на торгах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911535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161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47 признаков в четырёх группах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664208"/>
            <a:ext cx="5272888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664208"/>
            <a:ext cx="82296" cy="1627632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1847088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Атрибуты контракта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87552" y="2322576"/>
            <a:ext cx="467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Цена и её логарифм, сроки, география, способ закупки, продуктовые категории. Сюда же снижение цены от начальной — классический индикатор сговора.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78728" y="1664208"/>
            <a:ext cx="5272888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78728" y="1664208"/>
            <a:ext cx="82296" cy="1627632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13" name="Text 11"/>
          <p:cNvSpPr/>
          <p:nvPr/>
        </p:nvSpPr>
        <p:spPr>
          <a:xfrm>
            <a:off x="6626200" y="1847088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История поставщика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6200" y="2322576"/>
            <a:ext cx="467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Сколько контрактов было раньше, средние и максимальные цены, число уникальных заказчиков, типичное снижение цены на прошлых аукционах.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511296"/>
            <a:ext cx="5272888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511296"/>
            <a:ext cx="82296" cy="1627632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" y="3694176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История заказчика и пары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87552" y="4169664"/>
            <a:ext cx="467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Насколько узок круг поставщиков у заказчика, как часто встречается конкретная пара заказчик–поставщик, какую долю портфеля она занимает.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8728" y="3511296"/>
            <a:ext cx="5272888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78728" y="3511296"/>
            <a:ext cx="82296" cy="1627632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21" name="Text 19"/>
          <p:cNvSpPr/>
          <p:nvPr/>
        </p:nvSpPr>
        <p:spPr>
          <a:xfrm>
            <a:off x="6626200" y="3694176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Ценовые аномалии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26200" y="4169664"/>
            <a:ext cx="467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Насколько текущая цена отклоняется от типичной для этого поставщика. Систематическое завышение ловит картельную наценку.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413248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8C1D2F"/>
          </a:solidFill>
          <a:ln w="12700">
            <a:solidFill>
              <a:srgbClr val="8C1D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5413248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Главный принцип:  </a:t>
            </a:r>
            <a:r>
              <a:rPr lang="en-US" sz="1300" dirty="0">
                <a:solidFill>
                  <a:srgbClr val="FFE3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никакого заглядывания в будущее — все признаки по истории считаются строго по контрактам, подписанным раньше текущего.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МЕТОДЫ И ДАННЫЕ · 04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619695" y="3840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НИУ ВШЭ · СПб · 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Confident learning · выявление сговоров на торгах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911535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161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Модели и честная схема проверки качества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64008" cy="786384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1783080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Модели. </a:t>
            </a:r>
            <a:r>
              <a:rPr lang="en-US" sz="135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Базовая — CatBoost, для сравнения LightGBM. Категориальные признаки уходят в модель напрямую, без кодирования.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889504"/>
            <a:ext cx="64008" cy="786384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2843784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GroupKFold по ИНН поставщика. </a:t>
            </a:r>
            <a:r>
              <a:rPr lang="en-US" sz="135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Все контракты одной компании попадают в один фолд — модель не может просто запомнить отдельные фирмы.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950208"/>
            <a:ext cx="64008" cy="786384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" y="3904488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Временная проверка. </a:t>
            </a:r>
            <a:r>
              <a:rPr lang="en-US" sz="135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Учимся на контрактах 2014–2022, проверяем на 2023–2024.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010912"/>
            <a:ext cx="64008" cy="786384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" y="4965192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Метрика — PR-AUC. </a:t>
            </a:r>
            <a:r>
              <a:rPr lang="en-US" sz="135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При доле сговора ~8 % accuracy неинформативна, ROC-AUC завышает; PR-AUC честно показывает баланс точности и полноты.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132320" y="1737360"/>
            <a:ext cx="4416552" cy="4206240"/>
          </a:xfrm>
          <a:prstGeom prst="roundRect">
            <a:avLst>
              <a:gd name="adj" fmla="val 1739"/>
            </a:avLst>
          </a:prstGeom>
          <a:solidFill>
            <a:srgbClr val="F6E8EB"/>
          </a:solidFill>
          <a:ln w="12700">
            <a:solidFill>
              <a:srgbClr val="EAD0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0" y="1737360"/>
            <a:ext cx="91440" cy="4206240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17" name="Text 15"/>
          <p:cNvSpPr/>
          <p:nvPr/>
        </p:nvSpPr>
        <p:spPr>
          <a:xfrm>
            <a:off x="7452360" y="2011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ПОЧЕМУ GROUPKFOLD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52360" y="2514600"/>
            <a:ext cx="3886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18 537 контрактов — всего от 184 поставщиков (~100 на компанию).</a:t>
            </a:r>
            <a:endParaRPr lang="en-US" sz="1300" dirty="0"/>
          </a:p>
          <a:p>
            <a:pPr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При случайном разбиении часть контрактов фирмы попадёт в обучение, часть — в тест, и модель «узнаёт» компанию по её истории, а не учится закономерностям.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Групповое разбиение убирает этот эффект и даёт честную оценку.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МЕТОДЫ И ДАННЫЕ · 04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619695" y="3840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НИУ ВШЭ · СПб · 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Confident learning · выявление сговоров на торгах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911535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161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Confident learning: как мы его применяем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Идея метода. </a:t>
            </a:r>
            <a:r>
              <a:rPr lang="en-US" sz="1400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Если модель уверенно предсказывает один класс, а метка говорит обратное — это кандидат на ошибку метки. Реализуем через библиотеку Cleanlab.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5272888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286000"/>
            <a:ext cx="82296" cy="1554480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2487168"/>
            <a:ext cx="467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Подход 1 · Количественный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87552" y="2944368"/>
            <a:ext cx="467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Применяем коррекцию к обучающей выборке и проверяем, растёт ли качество на исходных метках регулятора.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78728" y="2286000"/>
            <a:ext cx="5272888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78728" y="2286000"/>
            <a:ext cx="82296" cy="1554480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14" name="Text 12"/>
          <p:cNvSpPr/>
          <p:nvPr/>
        </p:nvSpPr>
        <p:spPr>
          <a:xfrm>
            <a:off x="6626200" y="2487168"/>
            <a:ext cx="467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Подход 2 · Качественный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26200" y="2944368"/>
            <a:ext cx="467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Используем Cleanlab как инструмент скрининга и получаем конкретные списки подозрительных контрактов.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ЧЕТЫРЕ СТРАТЕГИИ КОРРЕКЦИИ + БАЗОВАЯ МОДЕЛЬ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663440"/>
            <a:ext cx="2021373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809744"/>
            <a:ext cx="20213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49808" y="5266944"/>
            <a:ext cx="18019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Базовая модель · точка отсчёта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862621" y="4663440"/>
            <a:ext cx="2021373" cy="1143000"/>
          </a:xfrm>
          <a:prstGeom prst="roundRect">
            <a:avLst>
              <a:gd name="adj" fmla="val 4800"/>
            </a:avLst>
          </a:prstGeom>
          <a:solidFill>
            <a:srgbClr val="F6E8EB"/>
          </a:solidFill>
          <a:ln w="12700">
            <a:solidFill>
              <a:srgbClr val="EAD0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62621" y="4809744"/>
            <a:ext cx="20213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972349" y="5266944"/>
            <a:ext cx="18019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Переразметка в «сговор»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85161" y="4663440"/>
            <a:ext cx="2021373" cy="1143000"/>
          </a:xfrm>
          <a:prstGeom prst="roundRect">
            <a:avLst>
              <a:gd name="adj" fmla="val 4800"/>
            </a:avLst>
          </a:prstGeom>
          <a:solidFill>
            <a:srgbClr val="F6E8EB"/>
          </a:solidFill>
          <a:ln w="12700">
            <a:solidFill>
              <a:srgbClr val="EAD0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85161" y="4809744"/>
            <a:ext cx="20213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194889" y="5266944"/>
            <a:ext cx="18019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Переразметка в «нет сговора»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07702" y="4663440"/>
            <a:ext cx="2021373" cy="1143000"/>
          </a:xfrm>
          <a:prstGeom prst="roundRect">
            <a:avLst>
              <a:gd name="adj" fmla="val 4800"/>
            </a:avLst>
          </a:prstGeom>
          <a:solidFill>
            <a:srgbClr val="F6E8EB"/>
          </a:solidFill>
          <a:ln w="12700">
            <a:solidFill>
              <a:srgbClr val="EAD0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07702" y="4809744"/>
            <a:ext cx="20213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7417430" y="5266944"/>
            <a:ext cx="18019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Переразметка в обе стороны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530243" y="4663440"/>
            <a:ext cx="2021373" cy="1143000"/>
          </a:xfrm>
          <a:prstGeom prst="roundRect">
            <a:avLst>
              <a:gd name="adj" fmla="val 4800"/>
            </a:avLst>
          </a:prstGeom>
          <a:solidFill>
            <a:srgbClr val="F6E8EB"/>
          </a:solidFill>
          <a:ln w="12700">
            <a:solidFill>
              <a:srgbClr val="EAD0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30243" y="4809744"/>
            <a:ext cx="20213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639971" y="5266944"/>
            <a:ext cx="18019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Удаление подозрительных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МЕТОДЫ И ДАННЫЕ · 04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619695" y="3840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НИУ ВШЭ · СПб · 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Confident learning · выявление сговоров на торгах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911535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161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Пять стратегий формирования выборки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Рынок институционально неоднороден, поэтому мы заранее сравниваем пять способов собрать обучающую выборку — по закону и по наличию начальной цены.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10908792" cy="290779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Стратегия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Состав данных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Начальная цена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Контрактов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Со сговором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Все: 44-ФЗ и 223-ФЗ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Используется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18 537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1 471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Все: 44-ФЗ и 223-ФЗ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Не используется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18 537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1 471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Только 44-ФЗ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Используется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16 989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1 452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Только 44-ФЗ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Не используется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16 989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1 452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8C1D2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8C1D2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Только 44-ФЗ, полные строки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8C1D2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Используется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8C1D2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13 176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8C1D2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1 139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5440680"/>
            <a:ext cx="10911535" cy="713232"/>
          </a:xfrm>
          <a:prstGeom prst="roundRect">
            <a:avLst>
              <a:gd name="adj" fmla="val 7692"/>
            </a:avLst>
          </a:prstGeom>
          <a:solidFill>
            <a:srgbClr val="F6E8EB"/>
          </a:solidFill>
          <a:ln w="12700">
            <a:solidFill>
              <a:srgbClr val="EAD0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5440680"/>
            <a:ext cx="91440" cy="713232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11" name="Text 8"/>
          <p:cNvSpPr/>
          <p:nvPr/>
        </p:nvSpPr>
        <p:spPr>
          <a:xfrm>
            <a:off x="1024128" y="5440680"/>
            <a:ext cx="101800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Стратегия E — </a:t>
            </a:r>
            <a:r>
              <a:rPr lang="en-US" sz="1300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однородная выборка по 44-ФЗ только из контрактов с полной начальной ценой. Дальше увидим, что именно она даёт лучшее качество базовой модели.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РЕЗУЛЬТАТЫ · 05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619695" y="3840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НИУ ВШЭ · СПб · 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Confident learning · выявление сговоров на торгах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911535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161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Разведочный анализ: где прячется сговор</a:t>
            </a:r>
            <a:endParaRPr lang="en-US" sz="3000" dirty="0"/>
          </a:p>
        </p:txBody>
      </p:sp>
      <p:sp>
        <p:nvSpPr>
          <p:cNvPr id="7" name="TextBox 6"/>
          <p:cNvSpPr txBox="1"/>
          <p:nvPr/>
        </p:nvSpPr>
        <p:spPr>
          <a:xfrm>
            <a:off x="640080" y="1545000"/>
            <a:ext cx="539496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8C1D2F"/>
                </a:solidFill>
                <a:latin typeface="Raleway"/>
              </a:rPr>
              <a:t>ДОЛЯ СГОВОРА ПО КВАРТИЛЯМ СТОИМОСТИ, %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893600"/>
          <a:ext cx="5394960" cy="27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1545000"/>
            <a:ext cx="539496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8C1D2F"/>
                </a:solidFill>
                <a:latin typeface="Raleway"/>
              </a:rPr>
              <a:t>ДОЛЯ СГОВОРА ПО ГОДАМ, %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172800" y="1893600"/>
          <a:ext cx="5394960" cy="27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4790000"/>
            <a:ext cx="10911535" cy="1170000"/>
          </a:xfrm>
          <a:prstGeom prst="roundRect">
            <a:avLst>
              <a:gd name="adj" fmla="val 6000"/>
            </a:avLst>
          </a:prstGeom>
          <a:solidFill>
            <a:srgbClr val="F6E8EB"/>
          </a:solidFill>
          <a:ln w="12700">
            <a:solidFill>
              <a:srgbClr val="EA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790000"/>
            <a:ext cx="91440" cy="1170000"/>
          </a:xfrm>
          <a:prstGeom prst="rect">
            <a:avLst/>
          </a:prstGeom>
          <a:solidFill>
            <a:srgbClr val="8C1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4790000"/>
            <a:ext cx="10180015" cy="1170000"/>
          </a:xfrm>
          <a:prstGeom prst="rect">
            <a:avLst/>
          </a:prstGeom>
          <a:noFill/>
        </p:spPr>
        <p:txBody>
          <a:bodyPr wrap="square" anchor="ctr" lIns="0" rIns="12000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50" b="1">
                <a:solidFill>
                  <a:srgbClr val="8C1D2F"/>
                </a:solidFill>
                <a:latin typeface="Raleway"/>
              </a:rPr>
              <a:t>Снижение цены у сговорных почти нулевое</a:t>
            </a:r>
            <a:r>
              <a:rPr sz="1250" b="0">
                <a:solidFill>
                  <a:srgbClr val="161616"/>
                </a:solidFill>
                <a:latin typeface="Raleway"/>
              </a:rPr>
              <a:t> — медиана 0,5% против 1,0% у обычных, с резким пиком на нуле.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250" b="1">
                <a:solidFill>
                  <a:srgbClr val="8C1D2F"/>
                </a:solidFill>
                <a:latin typeface="Raleway"/>
              </a:rPr>
              <a:t>Сговор в 44-ФЗ — в 7 раз чаще, чем в 223-ФЗ</a:t>
            </a:r>
            <a:r>
              <a:rPr sz="1250" b="0">
                <a:solidFill>
                  <a:srgbClr val="161616"/>
                </a:solidFill>
                <a:latin typeface="Raleway"/>
              </a:rPr>
              <a:t> (8,5% против 1,2%): без начальной цены метод почти не работает.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250" b="1">
                <a:solidFill>
                  <a:srgbClr val="8C1D2F"/>
                </a:solidFill>
                <a:latin typeface="Raleway"/>
              </a:rPr>
              <a:t>Сильнейший одиночный признак — концентрация поставщиков у заказчика</a:t>
            </a:r>
            <a:r>
              <a:rPr sz="1250" b="0">
                <a:solidFill>
                  <a:srgbClr val="161616"/>
                </a:solidFill>
                <a:latin typeface="Raleway"/>
              </a:rPr>
              <a:t> (AUC 0,73 против 0,56 у ценового снижения). Доля сговора по годам скачет 3–15%, отражая активность ФАС, а не поведение.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РЕЗУЛЬТАТЫ · 05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619695" y="3840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НИУ ВШЭ · СПб · 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Confident learning · выявление сговоров на торгах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911535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161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Сравнение моделей: CatBoost против LightGBM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Сравнение проводим на полной выборке (стратегия A) при равных условиях. Метрики — PR-AUC, ROC-AUC и F1 при двух схемах проверки качества.</a:t>
            </a:r>
            <a:endParaRPr lang="en-US" sz="1300" dirty="0"/>
          </a:p>
        </p:txBody>
      </p: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640080" y="2240280"/>
          <a:ext cx="10908792" cy="2907792"/>
        </p:xfrm>
        <a:graphic>
          <a:graphicData uri="http://schemas.openxmlformats.org/drawingml/2006/table">
            <a:tbl>
              <a:tblPr/>
              <a:tblGrid>
                <a:gridCol w="21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8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Модель</a:t>
                      </a:r>
                      <a:endParaRPr lang="ru-RU" sz="13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Схема проверки</a:t>
                      </a:r>
                      <a:endParaRPr lang="ru-RU" sz="13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PR-AUC</a:t>
                      </a:r>
                      <a:endParaRPr lang="ru-RU" sz="13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ROC-AUC</a:t>
                      </a:r>
                      <a:endParaRPr lang="ru-RU" sz="13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F1</a:t>
                      </a:r>
                      <a:endParaRPr lang="ru-RU" sz="13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D2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CatBoost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Случайная (Stratified)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0,731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0,959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0,673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CatBoost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Честная (GroupKFold)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0,531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0,899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0,506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LightGBM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Случайная (Stratified)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0,778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0,965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0,720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LightGBM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Честная (GroupKFold)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0,509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0,882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0,497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5440680"/>
            <a:ext cx="10911535" cy="713232"/>
          </a:xfrm>
          <a:prstGeom prst="roundRect">
            <a:avLst>
              <a:gd name="adj" fmla="val 7692"/>
            </a:avLst>
          </a:prstGeom>
          <a:solidFill>
            <a:srgbClr val="F6E8EB"/>
          </a:solidFill>
          <a:ln w="12700">
            <a:solidFill>
              <a:srgbClr val="EAD0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5440680"/>
            <a:ext cx="91440" cy="713232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11" name="Text 8"/>
          <p:cNvSpPr/>
          <p:nvPr/>
        </p:nvSpPr>
        <p:spPr>
          <a:xfrm>
            <a:off x="1024128" y="5440680"/>
            <a:ext cx="101800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Под честной проверкой — </a:t>
            </a:r>
            <a:r>
              <a:rPr lang="en-US" sz="1300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CatBoost обгоняет LightGBM (PR-AUC 0,531 против 0,509); при случайном разбиении — наоборот. CatBoost устойчивее к групповой структуре данных и выбран базовой моделью.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РЕЗУЛЬТАТЫ · 05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619695" y="3840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НИУ ВШЭ · СПб · 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Confident learning · выявление сговоров на торгах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911535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161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Выбор стратегии формирования выборки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Рынок институционально неоднороден, поэтому мы сравниваем пять способов собрать обучающую выборку — по закону и наличию начальной цены. Качество базовой модели CatBoost оцениваем по PR-AUC.</a:t>
            </a:r>
            <a:endParaRPr lang="en-US" sz="1300" dirty="0"/>
          </a:p>
        </p:txBody>
      </p: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640080" y="2240280"/>
          <a:ext cx="10908792" cy="2907792"/>
        </p:xfrm>
        <a:graphic>
          <a:graphicData uri="http://schemas.openxmlformats.org/drawingml/2006/table">
            <a:tbl>
              <a:tblPr/>
              <a:tblGrid>
                <a:gridCol w="13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Стратегия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Состав данных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PR-AUC честная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PR-AUC временная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Над базой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D2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Все: 44-ФЗ и 223-ФЗ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0,414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0,658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×5,2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Все, без начальной цены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0,377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0,661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×4,8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Только 44-ФЗ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0,388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0,680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×4,5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Только 44-ФЗ, без начальной цены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0,361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0,682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×4,2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Только 44-ФЗ, полные строки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0,465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0,643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×5,4</a:t>
                      </a:r>
                      <a:endParaRPr lang="ru-RU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5440680"/>
            <a:ext cx="10911535" cy="713232"/>
          </a:xfrm>
          <a:prstGeom prst="roundRect">
            <a:avLst>
              <a:gd name="adj" fmla="val 7692"/>
            </a:avLst>
          </a:prstGeom>
          <a:solidFill>
            <a:srgbClr val="F6E8EB"/>
          </a:solidFill>
          <a:ln w="12700">
            <a:solidFill>
              <a:srgbClr val="EAD0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5440680"/>
            <a:ext cx="91440" cy="713232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11" name="Text 8"/>
          <p:cNvSpPr/>
          <p:nvPr/>
        </p:nvSpPr>
        <p:spPr>
          <a:xfrm>
            <a:off x="1024128" y="5440680"/>
            <a:ext cx="101800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Стратегия E — </a:t>
            </a:r>
            <a:r>
              <a:rPr lang="en-US" sz="1300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однородная выборка по 44-ФЗ из контрактов с полной начальной ценой — даёт лучшее качество базовой модели (PR-AUC 0,465). На ней и ведём все эксперименты с коррекцией.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РЕЗУЛЬТАТЫ · 05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619695" y="3840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НИУ ВШЭ · СПб · 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Confident learning · выявление сговоров на торгах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911535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161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Важность признаков в модели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Встроенная важность CatBoost (стратегия E). Все четыре группы признаков попадают в топ-10; метрика смещена в пользу категорий высокой мощности, поэтому читается как ориентир.</a:t>
            </a:r>
            <a:endParaRPr lang="en-US" sz="1300" dirty="0"/>
          </a:p>
        </p:txBody>
      </p: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640080" y="2240280"/>
          <a:ext cx="10908792" cy="2530000"/>
        </p:xfrm>
        <a:graphic>
          <a:graphicData uri="http://schemas.openxmlformats.org/drawingml/2006/table">
            <a:tbl>
              <a:tblPr/>
              <a:tblGrid>
                <a:gridCol w="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8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#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Признак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Важность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Группа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D2F"/>
                    </a:solidFill>
                  </a:tcPr>
                </a:tc>
              </a:tr>
              <a:tr h="2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5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Снижение цены от начальной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5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10,1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Контракт · цена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</a:tr>
              <a:tr h="2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Год контракта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8,0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Контракт · время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Регион поставщика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7,1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Контракт · география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Раздел ОКПД2 (категория товара)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5,3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Контракт · категория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Федеральный округ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5,1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Контракт · география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Цена против средней у поставщика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3,4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Ценовая аномалия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Способ закупки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3,4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Контракт · категория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Разброс прошлых цен поставщика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3,2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История поставщика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Абсолютное снижение цены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3,2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Контракт · цена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Число поставщиков у заказчика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3,2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История заказчика</a:t>
                      </a:r>
                      <a:endParaRPr lang="ru-RU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5440680"/>
            <a:ext cx="10911535" cy="713232"/>
          </a:xfrm>
          <a:prstGeom prst="roundRect">
            <a:avLst>
              <a:gd name="adj" fmla="val 7692"/>
            </a:avLst>
          </a:prstGeom>
          <a:solidFill>
            <a:srgbClr val="F6E8EB"/>
          </a:solidFill>
          <a:ln w="12700">
            <a:solidFill>
              <a:srgbClr val="EAD0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5440680"/>
            <a:ext cx="91440" cy="713232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11" name="Text 8"/>
          <p:cNvSpPr/>
          <p:nvPr/>
        </p:nvSpPr>
        <p:spPr>
          <a:xfrm>
            <a:off x="1024128" y="5440680"/>
            <a:ext cx="101800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Год контракта исключён из финальной модели — </a:t>
            </a:r>
            <a:r>
              <a:rPr lang="en-US" sz="1300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его сила отражает интенсивность проверок ФАС, а не поведение. По одиночному AUC концентрация поставщиков у заказчика (0,73) обгоняет ценовой скрининг (0,56) — это подтверждает гипотезу H3.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РЕЗУЛЬТАТЫ · 05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619695" y="3840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НИУ ВШЭ · СПб · 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Confident learning · выявление сговоров на торгах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911535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161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Confident learning помогает, но избирательно</a:t>
            </a:r>
            <a:endParaRPr lang="en-US" sz="3000" dirty="0"/>
          </a:p>
        </p:txBody>
      </p: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640080" y="2240280"/>
          <a:ext cx="10908792" cy="2907792"/>
        </p:xfrm>
        <a:graphic>
          <a:graphicData uri="http://schemas.openxmlformats.org/drawingml/2006/table">
            <a:tbl>
              <a:tblPr/>
              <a:tblGrid>
                <a:gridCol w="3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87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Стратегия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PR-AUC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ROC-AUC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F1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Меток изменено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D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Значимо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D2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Базовая (без коррекции)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0,447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0,900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0,534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Переразметка в «нет сговора»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0,469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0,911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0,577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≈ 696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да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Удаление подозрительных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0,461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0,915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0,594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≈ 5 636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да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Переразметка в обе стороны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0,460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0,918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0,566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≈ 5 636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нет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1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Переразметка в «сговор»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0,450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0,919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0,542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≈ 4 940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00" dirty="0">
                          <a:solidFill>
                            <a:srgbClr val="1616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нет</a:t>
                      </a:r>
                      <a:endParaRPr lang="ru-RU" sz="12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074920"/>
            <a:ext cx="10911535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5074920"/>
            <a:ext cx="91440" cy="1005840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10" name="Text 7"/>
          <p:cNvSpPr/>
          <p:nvPr/>
        </p:nvSpPr>
        <p:spPr>
          <a:xfrm>
            <a:off x="1024128" y="507492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Две осторожные стратегии </a:t>
            </a:r>
            <a:r>
              <a:rPr lang="en-US" sz="135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(удаление и переразметка в «нет сговора») значимо превосходят базовую модель. Переразметка в «нет сговора» меняет всего </a:t>
            </a:r>
            <a:r>
              <a:rPr lang="en-US" sz="1350" b="1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696 меток</a:t>
            </a:r>
            <a:r>
              <a:rPr lang="en-US" sz="135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 — а агрессивная переразметка значимого прироста не даёт.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РЕЗУЛЬТАТЫ · 05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619695" y="3840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НИУ ВШЭ · СПб · 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Confident learning · выявление сговоров на торгах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911535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161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Готовый список подозрительных контрактов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5272888" cy="2148840"/>
          </a:xfrm>
          <a:prstGeom prst="roundRect">
            <a:avLst>
              <a:gd name="adj" fmla="val 3404"/>
            </a:avLst>
          </a:prstGeom>
          <a:solidFill>
            <a:srgbClr val="8C1D2F"/>
          </a:solidFill>
          <a:ln w="12700">
            <a:solidFill>
              <a:srgbClr val="8C1D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993392"/>
            <a:ext cx="4449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1 235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1051560" y="3017520"/>
            <a:ext cx="444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E3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контрактов с меткой «нет сговора», поведение которых совпадает с картельным — потенциально пропущенные дела.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8728" y="1737360"/>
            <a:ext cx="527288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90208" y="1993392"/>
            <a:ext cx="4449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16161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174</a:t>
            </a:r>
            <a:endParaRPr lang="en-US" sz="6200" dirty="0"/>
          </a:p>
        </p:txBody>
      </p:sp>
      <p:sp>
        <p:nvSpPr>
          <p:cNvPr id="12" name="Text 10"/>
          <p:cNvSpPr/>
          <p:nvPr/>
        </p:nvSpPr>
        <p:spPr>
          <a:xfrm>
            <a:off x="6690208" y="3017520"/>
            <a:ext cx="444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контракта с меткой «сговор», где модель уверенно предсказывает обратное — спорные или ошибочные обвинения.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10911535" cy="841248"/>
          </a:xfrm>
          <a:prstGeom prst="roundRect">
            <a:avLst>
              <a:gd name="adj" fmla="val 6522"/>
            </a:avLst>
          </a:prstGeom>
          <a:solidFill>
            <a:srgbClr val="F6E8EB"/>
          </a:solidFill>
          <a:ln w="12700">
            <a:solidFill>
              <a:srgbClr val="EAD0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114800"/>
            <a:ext cx="91440" cy="841248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15" name="Text 13"/>
          <p:cNvSpPr/>
          <p:nvPr/>
        </p:nvSpPr>
        <p:spPr>
          <a:xfrm>
            <a:off x="1024128" y="4114800"/>
            <a:ext cx="101800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Профиль пропущенных кандидатов устойчив:  </a:t>
            </a:r>
            <a:r>
              <a:rPr lang="en-US" sz="1300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почти нулевое снижение цены от начальной, высокая концентрация поставщиков у заказчика и повторяющиеся отношения внутри одной пары.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138928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i="1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Сами реестровые номера в работе не публикуются из соображений ответственного раскрытия: список потенциальных нарушителей мог бы навредить компаниям, которые в итоге окажутся невиновными. Список воспроизводим из кода и передан научному руководителю.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РЕЗУЛЬТАТЫ · 05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619695" y="3840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НИУ ВШЭ · СПб · 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Confident learning · выявление сговоров на торгах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911535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161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Итог по гипотезам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371600" cy="1371600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H1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2011680" y="1783080"/>
            <a:ext cx="953993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783080"/>
            <a:ext cx="62938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Confident learning значимо улучшает качество, но только для осторожных стратегий. Агрессивная переразметка значимого прироста не даёт.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945575" y="2167128"/>
            <a:ext cx="2377440" cy="603504"/>
          </a:xfrm>
          <a:prstGeom prst="roundRect">
            <a:avLst>
              <a:gd name="adj" fmla="val 50000"/>
            </a:avLst>
          </a:prstGeom>
          <a:solidFill>
            <a:srgbClr val="EAD0D6"/>
          </a:solidFill>
          <a:ln w="12700">
            <a:solidFill>
              <a:srgbClr val="EAD0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45575" y="216712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E132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Частично подтверждена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355848"/>
            <a:ext cx="1371600" cy="1371600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5584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H2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2011680" y="3355848"/>
            <a:ext cx="953993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3355848"/>
            <a:ext cx="62938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Удаление устойчиво, потому что не зависит от направления ошибки. Переразметка в «нет сговора» меняет всего ≈ 696 меток и при этом не уступает удалению.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945575" y="3739896"/>
            <a:ext cx="2377440" cy="603504"/>
          </a:xfrm>
          <a:prstGeom prst="roundRect">
            <a:avLst>
              <a:gd name="adj" fmla="val 50000"/>
            </a:avLst>
          </a:prstGeom>
          <a:solidFill>
            <a:srgbClr val="8C1D2F"/>
          </a:solidFill>
          <a:ln w="12700">
            <a:solidFill>
              <a:srgbClr val="8C1D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45575" y="373989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Подтверждена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928616"/>
            <a:ext cx="1371600" cy="1371600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928616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H3</a:t>
            </a:r>
            <a:endParaRPr lang="en-US" sz="4000" dirty="0"/>
          </a:p>
        </p:txBody>
      </p:sp>
      <p:sp>
        <p:nvSpPr>
          <p:cNvPr id="21" name="Shape 19"/>
          <p:cNvSpPr/>
          <p:nvPr/>
        </p:nvSpPr>
        <p:spPr>
          <a:xfrm>
            <a:off x="2011680" y="4928616"/>
            <a:ext cx="953993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23160" y="4928616"/>
            <a:ext cx="62938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Концентрация поставщиков у заказчика поодиночке даёт AUC 0,73 против 0,56 у классического ценового признака.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945575" y="5312664"/>
            <a:ext cx="2377440" cy="603504"/>
          </a:xfrm>
          <a:prstGeom prst="roundRect">
            <a:avLst>
              <a:gd name="adj" fmla="val 50000"/>
            </a:avLst>
          </a:prstGeom>
          <a:solidFill>
            <a:srgbClr val="8C1D2F"/>
          </a:solidFill>
          <a:ln w="12700">
            <a:solidFill>
              <a:srgbClr val="8C1D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45575" y="531266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Подтверждена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ОБСУЖДЕНИЕ · 06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619695" y="3840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НИУ ВШЭ · СПб · 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Confident learning · выявление сговоров на торгах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911535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161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Что эти результаты значат и где их границы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272888" cy="1783080"/>
          </a:xfrm>
          <a:prstGeom prst="roundRect">
            <a:avLst>
              <a:gd name="adj" fmla="val 3077"/>
            </a:avLst>
          </a:prstGeom>
          <a:solidFill>
            <a:srgbClr val="F6E8EB"/>
          </a:solidFill>
          <a:ln w="12700">
            <a:solidFill>
              <a:srgbClr val="EAD0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82296" cy="1783080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1892808"/>
            <a:ext cx="467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Согласие с литературой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87552" y="2331720"/>
            <a:ext cx="467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Выводы совпадают с международными работами по выявлению сговора. Сравнение со схожим российским исследованием (Goryunova et al., 2021) даёт ту же направленность — при большем объёме данных и четырёх стратегиях коррекции вместо одной.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78728" y="1691640"/>
            <a:ext cx="5272888" cy="1783080"/>
          </a:xfrm>
          <a:prstGeom prst="roundRect">
            <a:avLst>
              <a:gd name="adj" fmla="val 3077"/>
            </a:avLst>
          </a:prstGeom>
          <a:solidFill>
            <a:srgbClr val="F6E8EB"/>
          </a:solidFill>
          <a:ln w="12700">
            <a:solidFill>
              <a:srgbClr val="EAD0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691640"/>
            <a:ext cx="82296" cy="1783080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13" name="Text 11"/>
          <p:cNvSpPr/>
          <p:nvPr/>
        </p:nvSpPr>
        <p:spPr>
          <a:xfrm>
            <a:off x="6626200" y="1892808"/>
            <a:ext cx="467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Методологический урок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6200" y="2331720"/>
            <a:ext cx="467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Переход от случайной проверки к групповой роняет качество примерно на четверть. На небольших сгруппированных выборках обычная валидация серьёзно завышает оценку модели.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КЛЮЧЕВЫЕ ОГРАНИЧЕНИЯ, О КОТОРЫХ ВАЖНО СКАЗАТЬ ЧЕСТНО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261104"/>
            <a:ext cx="64008" cy="457200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17" name="Text 15"/>
          <p:cNvSpPr/>
          <p:nvPr/>
        </p:nvSpPr>
        <p:spPr>
          <a:xfrm>
            <a:off x="886968" y="420624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Вся выборка — компании, хотя бы раз пойманные на сговоре. </a:t>
            </a:r>
            <a:r>
              <a:rPr lang="en-US" sz="125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Перенос на фирмы без истории дел нужно проверять отдельно.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864608"/>
            <a:ext cx="64008" cy="457200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19" name="Text 17"/>
          <p:cNvSpPr/>
          <p:nvPr/>
        </p:nvSpPr>
        <p:spPr>
          <a:xfrm>
            <a:off x="886968" y="4809744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Метки службы сами несут ложноотрицательный шум. </a:t>
            </a:r>
            <a:r>
              <a:rPr lang="en-US" sz="125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Поэтому измеренный прирост — скорее заниженная оценка истинного эффекта.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468112"/>
            <a:ext cx="64008" cy="457200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21" name="Text 19"/>
          <p:cNvSpPr/>
          <p:nvPr/>
        </p:nvSpPr>
        <p:spPr>
          <a:xfrm>
            <a:off x="886968" y="5413248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Для 223-ФЗ начальной цены обычно нет, и там качество хуже. </a:t>
            </a:r>
            <a:r>
              <a:rPr lang="en-US" sz="125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Сетевые признаки и полный перебор гиперпараметров оставлены на будущее.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ЗАКЛЮЧЕНИЕ · 06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619695" y="3840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НИУ ВШЭ · СПб · 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Confident learning · выявление сговоров на торгах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911535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161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Краткое содержание работы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Вопрос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926080" y="1783080"/>
            <a:ext cx="8625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Помогает ли confident learning выявлять сговор на зашумлённых метках и какая стратегия коррекции лучшая.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1091153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517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Данные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926080" y="2651760"/>
            <a:ext cx="8625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18 537 контрактов от 184 пойманных поставщиков, собранные из решений ФАС и API Clearspending, 2010–2025.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1091153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204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Метод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926080" y="3520440"/>
            <a:ext cx="8625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CatBoost с честной групповой проверкой по поставщику и confident learning через Cleanlab в четырёх стратегиях коррекции.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389120"/>
            <a:ext cx="1091153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3891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Ответ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926080" y="4389120"/>
            <a:ext cx="8625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Метод помогает избирательно: осторожные стратегии (удаление и переразметка в «нет сговора») значимо лучше базовой модели.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5257800"/>
            <a:ext cx="1091153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2578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Применение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926080" y="5257800"/>
            <a:ext cx="8625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Готовый список из 1 235 потенциально пропущенных контрактов для приоритизации проверок и рекомендация расширить раскрытие по 223-ФЗ.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Confident learning · выявление сговоров на торгах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619695" y="5029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НИУ ВШЭ · СПб · 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828800"/>
            <a:ext cx="11612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СПАСИБО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640080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Готовы ответить на вопросы по данным, методам и результатам.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709160"/>
            <a:ext cx="82296" cy="1051560"/>
          </a:xfrm>
          <a:prstGeom prst="rect">
            <a:avLst/>
          </a:prstGeom>
          <a:solidFill>
            <a:srgbClr val="8C1D2F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4663440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kern="0" spc="200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АВТОРЫ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Валевач Матвей Витальевич   ·   Костюченко Ирина Кирилловна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Международная программа по бизнесу и экономике, группа 2306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Науч. рук.: доц. Кракович В.В.   ·   Консультант: Ефимов К.Д.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8C1D2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ПРИЛОЖЕНИЕ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619695" y="3840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НИУ ВШЭ · СПб · 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Confident learning · выявление сговоров на торгах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911535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C7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161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Приложение: ключевые источники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737360"/>
            <a:ext cx="10408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Northcutt, Jiang, Chuang (2021). </a:t>
            </a:r>
            <a:r>
              <a:rPr lang="en-US" sz="125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Confident learning: estimating uncertainty in dataset labels. JAIR, 70.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304288"/>
            <a:ext cx="1091153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0428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2304288"/>
            <a:ext cx="10408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Goryunova, Baklanov, Ianovski (2021). </a:t>
            </a:r>
            <a:r>
              <a:rPr lang="en-US" sz="125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noisy-labels approach to detecting uncompetitive auctions. ICMLODS, Springer.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871216"/>
            <a:ext cx="1091153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7121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2871216"/>
            <a:ext cx="10408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Huber, Imhof (2019). </a:t>
            </a:r>
            <a:r>
              <a:rPr lang="en-US" sz="125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Machine learning with screens for detecting bid-rigging cartels. Int. J. Industrial Organization, 65.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438144"/>
            <a:ext cx="1091153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3814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3438144"/>
            <a:ext cx="10408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Prokhorenkova et al. (2018). </a:t>
            </a:r>
            <a:r>
              <a:rPr lang="en-US" sz="125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CatBoost: unbiased boosting with categorical features. NeurIPS, 31.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005072"/>
            <a:ext cx="1091153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0507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" y="4005072"/>
            <a:ext cx="10408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Vabalas et al. (2019). </a:t>
            </a:r>
            <a:r>
              <a:rPr lang="en-US" sz="125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Machine learning algorithm validation with a limited sample size. PLoS ONE, 14(11).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1091153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5720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4572000"/>
            <a:ext cx="10408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Decarolis, Giorgiantonio (2022). </a:t>
            </a:r>
            <a:r>
              <a:rPr lang="en-US" sz="125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Corruption red flags in public procurement. EPJ Data Science, 11(1).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138928"/>
            <a:ext cx="1091153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3892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7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43000" y="5138928"/>
            <a:ext cx="10408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Wachs, Kertész (2019). </a:t>
            </a:r>
            <a:r>
              <a:rPr lang="en-US" sz="125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network approach to cartel detection in public auction markets. Scientific Reports, 9.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5705856"/>
            <a:ext cx="1091153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70585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D2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8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43000" y="5705856"/>
            <a:ext cx="10408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 xml:space="preserve">Porter, Zona (1993). </a:t>
            </a:r>
            <a:r>
              <a:rPr lang="en-US" sz="1250" dirty="0">
                <a:solidFill>
                  <a:srgbClr val="2E2E2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Detection of bid rigging in procurement auctions. Journal of Political Economy, 101(3).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6272784"/>
            <a:ext cx="1091153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2443</Words>
  <Application>Microsoft Macintosh PowerPoint</Application>
  <PresentationFormat>Широкоэкранный</PresentationFormat>
  <Paragraphs>357</Paragraphs>
  <Slides>21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5" baseType="lpstr">
      <vt:lpstr>Raleway</vt:lpstr>
      <vt:lpstr>Oswald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Confident learning для выявления сговоров на торгах</dc:title>
  <dc:subject>PptxGenJS Presentation</dc:subject>
  <dc:creator>Валевач М.В., Костюченко И.К.</dc:creator>
  <cp:lastModifiedBy>ira</cp:lastModifiedBy>
  <cp:revision>2</cp:revision>
  <dcterms:created xsi:type="dcterms:W3CDTF">2026-06-06T10:44:30Z</dcterms:created>
  <dcterms:modified xsi:type="dcterms:W3CDTF">2026-06-06T19:37:04Z</dcterms:modified>
</cp:coreProperties>
</file>