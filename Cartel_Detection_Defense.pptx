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C5F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4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Pair share in portfolio</c:v>
                  </c:pt>
                  <c:pt idx="1">
                    <c:v>Supplier avg. past price drop</c:v>
                  </c:pt>
                  <c:pt idx="2">
                    <c:v>Customer's unique suppliers</c:v>
                  </c:pt>
                  <c:pt idx="3">
                    <c:v>Price drop, abs.</c:v>
                  </c:pt>
                  <c:pt idx="4">
                    <c:v>Supplier past price std.</c:v>
                  </c:pt>
                  <c:pt idx="5">
                    <c:v>Placement method</c:v>
                  </c:pt>
                  <c:pt idx="6">
                    <c:v>Price drop vs. supplier avg.</c:v>
                  </c:pt>
                  <c:pt idx="7">
                    <c:v>Federal district</c:v>
                  </c:pt>
                  <c:pt idx="8">
                    <c:v>OKPD2 product section</c:v>
                  </c:pt>
                  <c:pt idx="9">
                    <c:v>Supplier region</c:v>
                  </c:pt>
                  <c:pt idx="10">
                    <c:v>Sign year</c:v>
                  </c:pt>
                  <c:pt idx="11">
                    <c:v>Price drop vs. reserve, %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3</c:v>
                </c:pt>
                <c:pt idx="2">
                  <c:v>3.2</c:v>
                </c:pt>
                <c:pt idx="3">
                  <c:v>3.2</c:v>
                </c:pt>
                <c:pt idx="4">
                  <c:v>3.2</c:v>
                </c:pt>
                <c:pt idx="5">
                  <c:v>3.4</c:v>
                </c:pt>
                <c:pt idx="6">
                  <c:v>3.4</c:v>
                </c:pt>
                <c:pt idx="7">
                  <c:v>5.1</c:v>
                </c:pt>
                <c:pt idx="8">
                  <c:v>5.3</c:v>
                </c:pt>
                <c:pt idx="9">
                  <c:v>7.1</c:v>
                </c:pt>
                <c:pt idx="10">
                  <c:v>8</c:v>
                </c:pt>
                <c:pt idx="11">
                  <c:v>10.1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2434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Machine-Learning Detection of Bid Rigging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Russian Public Procurement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cartel collusion in 44-FZ / 223-FZ auctions from open contract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paper — defense presentation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AB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Matvey   ·   Supervisor: [name]</a:t>
            </a:r>
            <a:endParaRPr lang="en-US" sz="15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AB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HSE University, Saint Petersburg   ·  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cartels in public procurement matter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7315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case: in a road-repair auction three "competing" firms take turns submitting near-identical bids and barely lower the starting price — the state overpays and the winner is decided in advance.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rigging (sec. 2 part 1 art. 11 of the Competition Law) is the most damaging antitrust violation in procurement: it inflates prices and wastes budget funds.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Federal Antimonopoly Service (FAS) detects cartels mostly reactively, case by case — slow and incomplete coverage of millions of contracts.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(EIS / ClearSpending) records the price, parties and dynamics of every auction, so suspicious patterns are in principle observable at scale.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92440" y="1737360"/>
            <a:ext cx="3611880" cy="3383280"/>
          </a:xfrm>
          <a:prstGeom prst="rect">
            <a:avLst/>
          </a:prstGeom>
          <a:solidFill>
            <a:srgbClr val="16263D"/>
          </a:solidFill>
          <a:ln/>
        </p:spPr>
      </p:sp>
      <p:sp>
        <p:nvSpPr>
          <p:cNvPr id="7" name="Shape 5"/>
          <p:cNvSpPr/>
          <p:nvPr/>
        </p:nvSpPr>
        <p:spPr>
          <a:xfrm>
            <a:off x="8092440" y="1737360"/>
            <a:ext cx="109728" cy="338328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8" name="Text 6"/>
          <p:cNvSpPr/>
          <p:nvPr/>
        </p:nvSpPr>
        <p:spPr>
          <a:xfrm>
            <a:off x="836676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66760" y="23774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supervised models, trained on open contract data and confirmed FAS cartel cases, flag individual contracts as likely bid-rigging — and which signals drive that prediction?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literature tells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349240" cy="21945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00200"/>
            <a:ext cx="91440" cy="219456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 for collusion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952" y="225856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"screens" flag markets by price and bid patterns — low bid dispersion, suspiciously stable shares, round-number bids (Harrington; Porter &amp; Zona).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5349240" cy="21945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600200"/>
            <a:ext cx="91440" cy="219456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bid markers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11112" y="225856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Cartels leave fingerprints: small price drops vs. the reserve, rotating winners, repeated firm pairs facing the same buyer (Imhof et al.; Conley &amp; Decarolis).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5349240" cy="21945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" y="3977640"/>
            <a:ext cx="91440" cy="219456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" y="41422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on procurement data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8952" y="463600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Tree-boosting models (gradient boosting, random forests) on tender features outperform single-indicator screens for flagging rigged tenders.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3977640"/>
            <a:ext cx="5349240" cy="21945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3977640"/>
            <a:ext cx="91440" cy="219456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611112" y="41422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Label-quality problem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11112" y="4636008"/>
            <a:ext cx="4983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detected &amp; sanctioned cartels are labelled positive — true collusion is under-reported, a positive-unlabelled setting that biases naive evaluation.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price-dynamics + relationship features feed an ML screen; label noise must be handled explicitly.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Data: sources and construction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2697480" cy="228600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5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FAS decisions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br.fas.gov.ru; keep only true bid-rigging rulings (art. 11 §2). Extract violator INNs and the rigged auction numbers.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72968" y="23774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64992" y="1554480"/>
            <a:ext cx="2697480" cy="22860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7190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5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Contracts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24231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all 44-FZ / 223-FZ contracts of those suppliers from ClearSpending API; enrich with supplier &amp; customer registries.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0" y="23774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27064" y="1554480"/>
            <a:ext cx="2697480" cy="228600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9944" y="17190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5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Labelling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9944" y="24231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 contract collusion = True if its notification number is in the FAS-confirmed rigged-auction set; otherwise False.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97112" y="237744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089136" y="1554480"/>
            <a:ext cx="2697480" cy="22860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18" name="Text 16"/>
          <p:cNvSpPr/>
          <p:nvPr/>
        </p:nvSpPr>
        <p:spPr>
          <a:xfrm>
            <a:off x="9272016" y="17190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5F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Cleaning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72016" y="242316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94-FZ (legacy), fix INN formatting, merge sources, remove leakage/constant columns.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297680"/>
            <a:ext cx="2697480" cy="1417320"/>
          </a:xfrm>
          <a:prstGeom prst="rect">
            <a:avLst/>
          </a:prstGeom>
          <a:solidFill>
            <a:srgbClr val="1626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80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18,537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0080" y="5166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(units of analysis)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64992" y="4297680"/>
            <a:ext cx="2697480" cy="1417320"/>
          </a:xfrm>
          <a:prstGeom prst="rect">
            <a:avLst/>
          </a:prstGeom>
          <a:solidFill>
            <a:srgbClr val="16263D"/>
          </a:solidFill>
          <a:ln/>
        </p:spPr>
      </p:sp>
      <p:sp>
        <p:nvSpPr>
          <p:cNvPr id="24" name="Text 22"/>
          <p:cNvSpPr/>
          <p:nvPr/>
        </p:nvSpPr>
        <p:spPr>
          <a:xfrm>
            <a:off x="3502152" y="4480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1,471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3502152" y="5166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 contracts — 7.9%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27064" y="4297680"/>
            <a:ext cx="2697480" cy="1417320"/>
          </a:xfrm>
          <a:prstGeom prst="rect">
            <a:avLst/>
          </a:prstGeom>
          <a:solidFill>
            <a:srgbClr val="16263D"/>
          </a:solidFill>
          <a:ln/>
        </p:spPr>
      </p:sp>
      <p:sp>
        <p:nvSpPr>
          <p:cNvPr id="27" name="Text 25"/>
          <p:cNvSpPr/>
          <p:nvPr/>
        </p:nvSpPr>
        <p:spPr>
          <a:xfrm>
            <a:off x="6364224" y="4480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184 / 4,518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364224" y="5166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/ customers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89136" y="4297680"/>
            <a:ext cx="2697480" cy="1417320"/>
          </a:xfrm>
          <a:prstGeom prst="rect">
            <a:avLst/>
          </a:prstGeom>
          <a:solidFill>
            <a:srgbClr val="16263D"/>
          </a:solidFill>
          <a:ln/>
        </p:spPr>
      </p:sp>
      <p:sp>
        <p:nvSpPr>
          <p:cNvPr id="30" name="Text 28"/>
          <p:cNvSpPr/>
          <p:nvPr/>
        </p:nvSpPr>
        <p:spPr>
          <a:xfrm>
            <a:off x="9226296" y="44805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2010–2025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226296" y="51663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 dates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58978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16,989 contracts under 44-FZ and 1,548 under 223-FZ. Positive labels come from a limited pool of 184 sanctioned suppliers — handled in validation.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 time: volume and cartel rate</a:t>
            </a:r>
            <a:endParaRPr lang="en-US" sz="3000" dirty="0"/>
          </a:p>
        </p:txBody>
      </p:sp>
      <p:pic>
        <p:nvPicPr>
          <p:cNvPr id="5" name="Image 0" descr="/sessions/vigilant-sharp-johnson/mnt/outputs/eda_figures/01_year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7498080" cy="34082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73736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clean contracts, red = cartel contracts (left axis); black line = cartel rate (right axis).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volume grows over the sample; confirmed cartel contracts cluster in specific years.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temporal concentration makes sign_year informative but also a confounder — addressed in the model section.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engineering: turning contracts into signals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685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Contract-level:</a:t>
            </a:r>
            <a:endParaRPr lang="en-US" sz="150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drop vs. reserve (abs/%), log price, round-number price, currency, OKPD2 category, duration, seasonality (end-of-year/quarter).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customer history (only past contracts — no leakage):</a:t>
            </a:r>
            <a:endParaRPr lang="en-US" sz="150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average/median/std price, average past price drop, number of unique counterparties.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features:</a:t>
            </a:r>
            <a:endParaRPr lang="en-US" sz="150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customer–supplier concentration, repeated supplier–customer pairs, pair share of the buyer's portfolio.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~57 model features; identifiers and post-outcome fields excluded to avoid leakage.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783080"/>
          <a:ext cx="4023360" cy="914400"/>
        </p:xfrm>
        <a:graphic>
          <a:graphicData uri="http://schemas.openxmlformats.org/drawingml/2006/table">
            <a:tbl>
              <a:tblPr/>
              <a:tblGrid>
                <a:gridCol w="3154680"/>
                <a:gridCol w="868680"/>
              </a:tblGrid>
              <a:tr h="420624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single features (ROC-AUC)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 hMerge="1">
                  <a:tcPr/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Customer–supplier concentration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Customer's unique suppliers (before)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 share in customer portfolio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contracts (before)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vs. supplier average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avg. past price drop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5029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structure beats raw price signals — collusion is a network property.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Cartels barely lower the price</a:t>
            </a:r>
            <a:endParaRPr lang="en-US" sz="3000" dirty="0"/>
          </a:p>
        </p:txBody>
      </p:sp>
      <p:pic>
        <p:nvPicPr>
          <p:cNvPr id="5" name="Image 0" descr="/sessions/vigilant-sharp-johnson/mnt/outputs/eda_figures/03_price_d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6858000" cy="2532496"/>
          </a:xfrm>
          <a:prstGeom prst="rect">
            <a:avLst/>
          </a:prstGeom>
        </p:spPr>
      </p:pic>
      <p:pic>
        <p:nvPicPr>
          <p:cNvPr id="6" name="Image 1" descr="/sessions/vigilant-sharp-johnson/mnt/outputs/eda_figures/04_contract_va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60520"/>
            <a:ext cx="6858000" cy="25324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35240" y="1783080"/>
            <a:ext cx="4069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cartel contracts (red) concentrate at near-zero price drops — the reserve price is hardly competed down.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collusion is not confined to small lots — the cartel rate rises in the higher-value quartiles.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screening literature: weak price competition is a hallmark of rigged auctions.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EDA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differences: cartel vs. clean</a:t>
            </a:r>
            <a:endParaRPr lang="en-US" sz="3000" dirty="0"/>
          </a:p>
        </p:txBody>
      </p:sp>
      <p:pic>
        <p:nvPicPr>
          <p:cNvPr id="5" name="Image 0" descr="/sessions/vigilant-sharp-johnson/mnt/outputs/eda_figures/05_boxp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7223760" cy="4127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737360"/>
            <a:ext cx="3703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Cartel contracts tend to involve buyers with fewer unique suppliers and higher supplier concentration.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supplier–customer pairs take a larger share of the buyer's portfolio.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price-drop behaviour of the supplier is systematically lower for cartel firms.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overlap — no single feature separates the classes, motivating a multivariate model.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and honest validation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69494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gradient-boosted trees — CatBoost and LightGBM — handle categoricals, missing values and class imbalance.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Imbalance: positives are only 7.9%, so we evaluate with PR-AUC (vs. a 0.079 baseline) alongside ROC-AUC and F1.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strategies:</a:t>
            </a:r>
            <a:endParaRPr lang="en-US" sz="150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K-fold — random split; optimistic because the same suppliers appear in train and test.</a:t>
            </a:r>
            <a:endParaRPr lang="en-US" sz="150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GroupK-fold by supplier (INN) — no supplier overlap; the honest test of generalisation to new firms.</a:t>
            </a:r>
            <a:endParaRPr lang="en-US" sz="150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Time-split — train on past, test on future, mimicking real deployment.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Label-noise handling: Cleanlab flags likely-mislabelled contracts (positive-unlabelled problem).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0" y="1828800"/>
            <a:ext cx="3931920" cy="402336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1828800"/>
            <a:ext cx="91440" cy="40233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8" name="Text 6"/>
          <p:cNvSpPr/>
          <p:nvPr/>
        </p:nvSpPr>
        <p:spPr>
          <a:xfrm>
            <a:off x="8028432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GROUPING MATTERS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28432" y="2468880"/>
            <a:ext cx="3520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 come from just 184 sanctioned suppliers.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supplier is in both train and test, the model can memorise the firm instead of learning collusion.</a:t>
            </a:r>
            <a:endParaRPr lang="en-US" sz="14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GroupK-fold by INN removes this shortcut — its lower scores are the credible ones.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74066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50976"/>
                <a:gridCol w="950976"/>
                <a:gridCol w="914400"/>
                <a:gridCol w="950976"/>
                <a:gridCol w="89611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— stratified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— stratified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— group by supplier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 — group by supplier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(positive share)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5B6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38160" y="1691640"/>
            <a:ext cx="35661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(group-by-supplier) PR-AUC ≈ 0.51–0.53 — about 6.5× the 0.079 baseline.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stays high (0.88–0.90): the model ranks contracts well even on unseen suppliers.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scores (0.73–0.78) are inflated by supplier overlap — reported only for contrast.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point: high recall is achievable, so the screen can shortlist suspicious contracts for review.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drives the prediction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554480"/>
          <a:ext cx="70408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1691640"/>
            <a:ext cx="39319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competitiveness dominates:</a:t>
            </a:r>
            <a:endParaRPr lang="en-US" sz="135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drop vs. reserve and vs. the supplier's own history are the top behavioural signals.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&amp; market structure:</a:t>
            </a:r>
            <a:endParaRPr lang="en-US" sz="135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buyer's supplier diversity and repeated-pair share rank highly.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</a:t>
            </a:r>
            <a:endParaRPr lang="en-US" sz="135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district and product category capture where collusion concentrates.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sign_year is highly ranked but partly reflects when cases were prosecuted.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 noise: missed cartels, not false alarms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70408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Cleanlab flags 1,409 contracts as likely mislabelled (~11% of the working sample).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D62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1,235 "False" contracts look strongly like collusion → plausibly undetected cartels.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2C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 "True" contracts look clean → possible over-reach / weak cases.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labels improves the honest model:</a:t>
            </a:r>
            <a:endParaRPr lang="en-US" sz="145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relabel suspected positives → negatives lifts PR-AUC 0.447 → 0.469 (better than baseline in 100% of bootstraps).</a:t>
            </a:r>
            <a:endParaRPr lang="en-US" sz="1450" dirty="0"/>
          </a:p>
          <a:p>
            <a:pPr lvl="1" marL="355600" indent="-177800">
              <a:lnSpc>
                <a:spcPct val="102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grows monotonically as more flagged noise is pruned (robustness check).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positive-unlabelled nature: FAS labels under-count true collusion.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828800"/>
          <a:ext cx="38862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896112"/>
                <a:gridCol w="841248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Label-noise 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P&gt;base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(raw labels)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Relabel → negative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flagged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Relabel both ways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818120" y="45720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Group-by-supplier validation, CatBoost, 1,000-bootstrap CIs.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 across sample definitions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155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371600"/>
                <a:gridCol w="1371600"/>
                <a:gridCol w="1920240"/>
                <a:gridCol w="13716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/ setup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Cartels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PR-AUC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baseline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Time-split PR-AUC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44+223, with reserve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18,537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5.2×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44+223, no reserve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18,537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4.8×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44-FZ, with reserve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16,989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4.5×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44-FZ, no reserve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16,989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4.2×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— 44-FZ, complete rows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13,176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5.4×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43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75488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is stable: 4–5× the baseline across every sample definition.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reserve-price (price-drop) features consistently add predictive power.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Time-split PR-AUC (0.64–0.68) shows the screen still works on future, unseen contracts; Strategy E (complete rows) is the cleanest and strongest honest setup.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Interpretation and limitations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349240" cy="4572000"/>
          </a:xfrm>
          <a:prstGeom prst="rect">
            <a:avLst/>
          </a:prstGeom>
          <a:solidFill>
            <a:srgbClr val="E8EEF5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results mean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8952" y="23774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carries a real, multivariate cartel signal — ~5× better than chance even on unseen suppliers.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price competition + concentrated buyer–supplier relationships are the strongest markers, matching the screening literature.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a triage tool: it shortlists contracts for human / FAS review, not a verdict.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349240" cy="4572000"/>
          </a:xfrm>
          <a:prstGeom prst="rect">
            <a:avLst/>
          </a:prstGeom>
          <a:solidFill>
            <a:srgbClr val="F2F4F7"/>
          </a:solidFill>
          <a:ln/>
        </p:spPr>
      </p:sp>
      <p:sp>
        <p:nvSpPr>
          <p:cNvPr id="9" name="Text 7"/>
          <p:cNvSpPr/>
          <p:nvPr/>
        </p:nvSpPr>
        <p:spPr>
          <a:xfrm>
            <a:off x="6611112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7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11112" y="2377440"/>
            <a:ext cx="4892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Positive-unlabelled labels: only detected cartels are positive; undetected ones sit in the negative class.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 come from 184 suppliers — limited diversity; group validation mitigates but cannot fully remove this.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sign_year / region partly proxy enforcement activity, not pure collusion mechanics.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associational, not causal; flags require legal corroboration.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09728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the RQ: yes — gradient-boosted models trained on open contract data and FAS cartel cases flag bid-rigging at ~5–6× the base rate, and the drivers are interpretable.</a:t>
            </a:r>
            <a:endParaRPr lang="en-US" sz="17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signals: small price drop vs. the reserve and vs. the firm's own history; concentrated, repeated buyer–supplier relationships.</a:t>
            </a:r>
            <a:endParaRPr lang="en-US" sz="17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discipline matters: grouping by supplier and time-splitting cut optimistic scores roughly in half — report the honest numbers.</a:t>
            </a:r>
            <a:endParaRPr lang="en-US" sz="17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quality is central: correcting Cleanlab-flagged noise reliably improves the model and reveals likely undetected cartels.</a:t>
            </a:r>
            <a:endParaRPr lang="en-US" sz="17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use: a ranked watch-list for antitrust analysts, focusing scarce investigative attention on the riskiest contracts.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B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55448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rigging (cartel collusion) in Russian 44-FZ / 223-FZ public-procurement auctions.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359152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open contract data + FAS cases flag individual contracts as likely collusion, and why?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16382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163824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18,537 contracts (1,471 cartel, 7.9%), 184 suppliers / 4,518 customers, 2010–2025; ~57 features.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396849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968496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 &amp; LightGBM with PR-AUC; supplier-grouped &amp; time-split validation; Cleanlab for label noise.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7731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477316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PR-AUC ≈ 0.47–0.53 (~5–6× baseline); driven by weak price drops and concentrated relationships.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" y="5577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17520" y="557784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deployable triage screen that focuses antitrust review and surfaces likely undetected cartels.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feature structure &amp; data quality</a:t>
            </a:r>
            <a:endParaRPr lang="en-US" sz="3000" dirty="0"/>
          </a:p>
        </p:txBody>
      </p:sp>
      <p:pic>
        <p:nvPicPr>
          <p:cNvPr id="5" name="Image 0" descr="/sessions/vigilant-sharp-johnson/mnt/outputs/eda_figures/09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4846320" cy="3965892"/>
          </a:xfrm>
          <a:prstGeom prst="rect">
            <a:avLst/>
          </a:prstGeom>
        </p:spPr>
      </p:pic>
      <p:pic>
        <p:nvPicPr>
          <p:cNvPr id="6" name="Image 1" descr="/sessions/vigilant-sharp-johnson/mnt/outputs/eda_figures/10_missingn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00200"/>
            <a:ext cx="5760720" cy="35716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64190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correlations among key numeric features (most are weak — limited redundancy). Right: missingness by feature; red bars &gt; 50% missing (mainly reserve-price-derived fields), which the boosting models handle natively.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83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collusion by law, method &amp; geography</a:t>
            </a:r>
            <a:endParaRPr lang="en-US" sz="3000" dirty="0"/>
          </a:p>
        </p:txBody>
      </p:sp>
      <p:pic>
        <p:nvPicPr>
          <p:cNvPr id="5" name="Image 0" descr="/sessions/vigilant-sharp-johnson/mnt/outputs/eda_figures/02_fz_pla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486400" cy="2025997"/>
          </a:xfrm>
          <a:prstGeom prst="rect">
            <a:avLst/>
          </a:prstGeom>
        </p:spPr>
      </p:pic>
      <p:pic>
        <p:nvPicPr>
          <p:cNvPr id="6" name="Image 1" descr="/sessions/vigilant-sharp-johnson/mnt/outputs/eda_figures/07_okpd_se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572000" cy="2494272"/>
          </a:xfrm>
          <a:prstGeom prst="rect">
            <a:avLst/>
          </a:prstGeom>
        </p:spPr>
      </p:pic>
      <p:pic>
        <p:nvPicPr>
          <p:cNvPr id="7" name="Image 2" descr="/sessions/vigilant-sharp-johnson/mnt/outputs/eda_figures/06_heatmap_region_y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0"/>
            <a:ext cx="5486400" cy="2531795"/>
          </a:xfrm>
          <a:prstGeom prst="rect">
            <a:avLst/>
          </a:prstGeom>
        </p:spPr>
      </p:pic>
      <p:pic>
        <p:nvPicPr>
          <p:cNvPr id="8" name="Image 3" descr="/sessions/vigilant-sharp-johnson/mnt/outputs/eda_figures/08_concentr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297680"/>
            <a:ext cx="5303520" cy="20398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Bid Rigging in Russian Public Procurement</dc:title>
  <dc:subject>PptxGenJS Presentation</dc:subject>
  <dc:creator>Matvey</dc:creator>
  <cp:lastModifiedBy>Matvey</cp:lastModifiedBy>
  <cp:revision>1</cp:revision>
  <dcterms:created xsi:type="dcterms:W3CDTF">2026-06-06T10:24:18Z</dcterms:created>
  <dcterms:modified xsi:type="dcterms:W3CDTF">2026-06-06T10:24:18Z</dcterms:modified>
</cp:coreProperties>
</file>